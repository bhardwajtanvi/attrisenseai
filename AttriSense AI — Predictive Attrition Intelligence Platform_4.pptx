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</a:defRPr>
            </a:pPr>
            <a:r>
              <a:t>AttriSense AI</a:t>
            </a:r>
          </a:p>
          <a:p>
            <a:pPr algn="l">
              <a:defRPr sz="2600">
                <a:solidFill>
                  <a:srgbClr val="F8FAFC"/>
                </a:solidFill>
              </a:defRPr>
            </a:pPr>
            <a:r>
              <a:t>Predictive Attrition Intelligence Platform</a:t>
            </a:r>
          </a:p>
          <a:p>
            <a:pPr algn="l">
              <a:defRPr sz="1600" i="1">
                <a:solidFill>
                  <a:srgbClr val="64748B"/>
                </a:solidFill>
              </a:defRPr>
            </a:pPr>
            <a:r>
              <a:t>LTTS Global Hackathon 2026 | Jury Presentation</a:t>
            </a:r>
          </a:p>
        </p:txBody>
      </p:sp>
      <p:pic>
        <p:nvPicPr>
          <p:cNvPr id="3" name="Picture 2" descr="submission_cover_banner_1783602439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1081735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The Problem &amp; Cinematic 'Pre-Crime' Twist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Voluntary Exits Cost ₹2.5 Lakh Per Person. What if We Could Intercept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📊 The Corporate Cost of Attrition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₹2.5 Lakh Replacement Cost: </a:t>
            </a:r>
            <a:r>
              <a:t>Recruitment, onboarding, lost productivity, and knowledge transfers average ₹2.5 Lakh per employee departure.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LTTS Historical Trend: </a:t>
            </a:r>
            <a:r>
              <a:t>LTTS attrition has historically hovered around 13% - 18%, aligning with the IT industry average of 15% - 20%.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The Natural Attrition Target: </a:t>
            </a:r>
            <a:r>
              <a:t>Organizations do not target 0% attrition. A healthy natural attrition of 8% - 12% is required to bring fresh blood and ideas.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The Target Goal: </a:t>
            </a:r>
            <a:r>
              <a:t>Prevent involuntary attrition of high-performing, critical staff who leave because workplace warning flags go unnoticed.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🔮 'Pre-Crime' Attrition Interception</a:t>
            </a:r>
          </a:p>
          <a:p>
            <a:pPr>
              <a:spcAft>
                <a:spcPts val="800"/>
              </a:spcAft>
              <a:defRPr b="1" sz="1200">
                <a:solidFill>
                  <a:srgbClr val="06B6D4"/>
                </a:solidFill>
              </a:defRPr>
            </a:pPr>
            <a:r>
              <a:t>• Minority Report Analogy: </a:t>
            </a:r>
            <a:r>
              <a:t>In the movie Minority Report, pre-crime divisions catch criminals before they commit a crime. Similarly, AttriSense AI intercepts flight risks 3 to 6 months before a resignation letter is signed.</a:t>
            </a:r>
          </a:p>
          <a:p>
            <a:pPr>
              <a:spcAft>
                <a:spcPts val="800"/>
              </a:spcAft>
              <a:defRPr b="1" sz="1200">
                <a:solidFill>
                  <a:srgbClr val="06B6D4"/>
                </a:solidFill>
              </a:defRPr>
            </a:pPr>
            <a:r>
              <a:t>• Moneyball for Employee Retention: </a:t>
            </a:r>
            <a:r>
              <a:t>Just like sports analytics flags player fatigue, AttriSense flags employee burnout, salary misalignment, and manager friction to construct preventative retention playbooks.</a:t>
            </a:r>
          </a:p>
          <a:p>
            <a:pPr>
              <a:spcAft>
                <a:spcPts val="800"/>
              </a:spcAft>
              <a:defRPr b="1" sz="1200">
                <a:solidFill>
                  <a:srgbClr val="06B6D4"/>
                </a:solidFill>
              </a:defRPr>
            </a:pPr>
            <a:r>
              <a:t>• Multi-Agent vs. Single Agent: </a:t>
            </a:r>
            <a:r>
              <a:t>Traditional single-agent setups run a single prompt that dilutes context and hallucinates. AttriSense utilizes a multi-agent assembly (Signal Detection, Sentiment NLP, Scoring, and Advisor) for specialized, zero-hallucination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Multi-Agent System Architecture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Google ADK 2.4.0 + Specialist 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6B6D4"/>
                </a:solidFill>
              </a:defRPr>
            </a:pPr>
            <a:r>
              <a:t>📡 Step 1: Telemetry Sensor Network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Aggregates 15 continuous behavioral and work-life telemetry signals via mcp_server.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🧠 Step 2: Sentiment NLP Analyzer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Runs real-time sentiment extraction &amp; disengagement theme detection on employee voice data.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📊 Step 3: Risk Score Calculator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Processes weights to compile a real-time risk index (0-100%) and categorizes flight risk.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💡 Step 4: AI Retention Playbook Advisor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Maps risk drivers to corporate mitigation playbooks to synthesize direct action steps.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🛡️ Step 5: Security &amp; Privacy Gateway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Enforces PII redaction, prompt injection defense, and role-based view/edit permissions.</a:t>
            </a:r>
          </a:p>
        </p:txBody>
      </p:sp>
      <p:pic>
        <p:nvPicPr>
          <p:cNvPr id="4" name="Picture 3" descr="workflow_diagram_1783602425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1: Telemetry Sensor Network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Continuous Behavioral Sensing Across 15 Core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</a:defRPr>
            </a:pPr>
            <a:r>
              <a:t>• Absenteeism Rate (12%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Identifies sudden increases in unscheduled leave. Warning: &gt;10%, Critical: &gt;15%.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NLP Sentiment Score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Quantifies employee feelings from communications/reviews. Warning: &lt;-0.1, Critical: &lt;-0.3.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Performance Trend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Detects drop-offs in performance ratings. Warning: Declining trend, Critical: Steep drop.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Compensation Gap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Positions salary against market rate percentile. Warning: &lt;40th pct, Critical: &lt;30th pct.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Manager Scorecard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manager-employee relationship scores. Warning: &lt;6.0, Critical: &lt;5.0.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Promotion Gap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years elapsed since last promotion. Warning: &gt;2 years, Critical: &gt;3 years.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Internal Job Searches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Monitors internal portals for active queries. Warning: &gt;5 searches, Critical: &gt;8 searches.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</a:defRPr>
            </a:pPr>
            <a:r>
              <a:t>• Meeting Participation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active engagement in collaborative work/meetings.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Collaboration Index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cross-team interaction levels and outgoing syncs.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Training Activity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Flags low professional development (Warning: &lt;2 trainings/year).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Recognition &amp; Awards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Identifies employees with zero recognition in the past year.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Location Mismatch (5%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Flags fresher relocations to mismatched locations (High attrition risk).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Cross-Functional Work (3%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exposure to projects outside immediate teams.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Team Social Engagement (2%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participation in voluntary out-of-work events.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• 🔥 Signal #15: Weekly Working Hours (5%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Added telemetric parameter. Redflags potential burnout from excessive workload. Warning: &gt;48 hours/week, Critical: &gt;55 hours/week.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Telemetry Mathematical Formula Deep-Dive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Detailed Range, Warning Thresholds, and Point Contribution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6B6D4"/>
                </a:solidFill>
              </a:defRPr>
            </a:pPr>
            <a:r>
              <a:t>• Absenteeism (12%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min(Absenteeism/0.25, 1.0) * 12</a:t>
            </a:r>
            <a:br/>
            <a:r>
              <a:t>- Safe (&lt;5%): 0.0 - 2.4 pts | Warning (5-15%): 2.4 - 7.2 pts | High (&gt;15%): &gt;7.2 pts (Caps at 25% absent).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Sentiment Score (10%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(Sentiment+1)/2) * 10</a:t>
            </a:r>
            <a:br/>
            <a:r>
              <a:t>- Safe (&gt;+0.2): 0.0 - 4.0 pts | Warning (0.0 to -0.2): 5.0 - 6.0 pts | High (&lt;-0.3): &gt;6.5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Performance Trend (10%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Categorical Multiplier: High (0.0), Improving (2.0), Stable (4.5), Declining (8.0), Low (10.0).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Compensation Gap (10%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SalaryPercentile/100) * 10</a:t>
            </a:r>
            <a:br/>
            <a:r>
              <a:t>- Safe (&gt;60th pct): 0.0 - 4.0 pts | Warning (40-60th pct): 4.0 - 6.0 pts | High (&lt;40th pct): &gt;6.0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Internal Searches (8%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min(Searches/15, 1.0) * 8</a:t>
            </a:r>
            <a:br/>
            <a:r>
              <a:t>- Safe (0-2): 0.0 - 1.07 pts | Warning (3-5) | High (&gt;5): &gt;2.67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Manager Scorecard (8%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ManagerScore/10) * 8</a:t>
            </a:r>
            <a:br/>
            <a:r>
              <a:t>- Safe (&gt;7): 0.0 - 2.4 pts | High (&lt;5): &gt;4.0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Promotion Gap (8%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min(YearsSincePromo/5, 1.0) * 8</a:t>
            </a:r>
            <a:br/>
            <a:r>
              <a:t>- Safe (&lt;2 yrs): 0.0 - 3.2 pts | High (&gt;3 yrs): &gt;4.8 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6B6D4"/>
                </a:solidFill>
              </a:defRPr>
            </a:pPr>
            <a:r>
              <a:t>• Meeting Attendance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ParticipationRate) * 6</a:t>
            </a:r>
            <a:br/>
            <a:r>
              <a:t>- Safe (&gt;70%): 0.0 - 1.8 pts | High (&lt;50%): &gt;3.0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Collaboration Index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(1 - CollabIndex) * 6</a:t>
            </a:r>
            <a:br/>
            <a:r>
              <a:t>- Safe (&gt;70%): 0.0 - 1.8 pts | High (&lt;40%): &gt;3.6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Training Activity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max(0.0, 1 - TrainingsYTD/8) * 6</a:t>
            </a:r>
            <a:br/>
            <a:r>
              <a:t>- Safe (&gt;4): 0.0 - 3.0 pts | High (0 in 6m): &gt;4.5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Awards Count (6%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max(0.0, 1 - AwardsCount/5) * 6</a:t>
            </a:r>
            <a:br/>
            <a:r>
              <a:t>- Safe (&gt;=2): 0.0 - 3.6 pts | High (0 in 12m): 6.0 pts.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Location Mismatch (5%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Binary: Contributes 5.0 points if relocated fresher base_location_match is False, else 0.0.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Cross-Functional Work (3%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Binary: Contributes 3.0 points if cross_functional_work is False, else 0.0.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• Team Outings (2%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max(0.0, 1 - Outings/8) * 2</a:t>
            </a:r>
            <a:br/>
            <a:r>
              <a:t>- Safe (&gt;=4): 0.0 - 1.0 pts | High (0 outings): 2.0 pts.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t>• 🔥 Signal #15: Weekly Hours (5% W)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Formula: min(max(0.0, Hours - 40)/20, 1.0) * 5</a:t>
            </a:r>
            <a:br/>
            <a:r>
              <a:t>- Safe (&lt;44h): 0.0 - 1.0 pts | High (&gt;48h): 2.0 pts | Critical (&gt;55h): &gt;3.7 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Attrition Parameter Correlation Matrix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How Telemetry Parameters Interact to Compound Employee Flight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Weekly Hours &amp; Burnout (r = -0.74 / +0.55): </a:t>
            </a:r>
            <a:r>
              <a:t>High working hours show a strong negative correlation with Work-Life Balance (-0.74) and NLP Sentiment (-0.68), while driving up Absenteeism (+0.55). This mathematically proves that overtime leads to physical burnout and disengagement.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Manager Influence &amp; Sentiment (r = +0.62 / +0.50): </a:t>
            </a:r>
            <a:r>
              <a:t>The Manager Relationship Score directly determines Performance Ratings (+0.62) and overall Sentiment (+0.50). Manager friction also correlates with an increase in Absenteeism (+0.42).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Compensation &amp; Stagnation (r = -0.52): </a:t>
            </a:r>
            <a:r>
              <a:t>A lower Compensation Ratio is strongly linked to long Promotion Gaps (-0.52). Underpaid employees who feel stagnant show high rates of active internal job searches.</a:t>
            </a:r>
          </a:p>
          <a:p>
            <a:pPr>
              <a:spcAft>
                <a:spcPts val="1000"/>
              </a:spcAft>
              <a:defRPr b="1" sz="1100">
                <a:solidFill>
                  <a:srgbClr val="F8FAFC"/>
                </a:solidFill>
              </a:defRPr>
            </a:pPr>
            <a:r>
              <a:t>• Theme Interconnection: </a:t>
            </a:r>
            <a:r>
              <a:t>NLP disengagement themes like 'workload_pressure' act as early leading indicators that predict hard metric shifts (like increased Absenteeism) 3–6 months in advance.</a:t>
            </a:r>
          </a:p>
        </p:txBody>
      </p:sp>
      <p:pic>
        <p:nvPicPr>
          <p:cNvPr id="4" name="Picture 3" descr="parameter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2 &amp; 3: Sentiment NLP &amp; Risk Indexing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Empathetic Text Processing + Categorical Attrition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2: Sentiment NLP Processing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Real-Time NLP Parsing: </a:t>
            </a:r>
            <a:r>
              <a:t>Evaluates employee written feedback, pulse surveys, and ticket updates.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Numeric Mood Indexing: </a:t>
            </a:r>
            <a:r>
              <a:t>Converts qualitative feedback into a scalar range from -1.0 (Highly Disengaged) to +1.0 (Enthusiastic).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Core Theme Extraction: </a:t>
            </a:r>
            <a:r>
              <a:t>Identifies specific pain points such as 'burnout', 'career_stagnation', 'workload_pressure', or 'manager_friction'.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Contextual Synthesis: </a:t>
            </a:r>
            <a:r>
              <a:t>Enables the Orchestrator to understand the human story behind the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3: Risk Level Classification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🔴 CRITICAL (Score &gt;= 80%)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3 months. Requires immediate senior HR intervention and salary/overtime audit.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🟠 HIGH (Score 60% - 79%)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6 months. Triggers automated manager check-ins, skip-levels, and workload cap.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🟡 MODERATE (Score 35% - 59%)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12 months. Requires quarterly reviews, skill alignment, and training incentives.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🟢 LOW (Score &lt; 35%)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Stable tier. Monitored on a standard bi-annual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4 &amp; 5: Retention Playbooks &amp; Security Safeguards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Prescriptive Mitigation + Enterprise Privacy and Governance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4: AI Retention Advisor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Overtime &amp; Hours Playbook: </a:t>
            </a:r>
            <a:r>
              <a:t>Mitigates burnout by enforcing strict weekend caps, shifting loads, or introducing flexi-time.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Compensation Review Playbook: </a:t>
            </a:r>
            <a:r>
              <a:t>Initiates salary percentile benchmarks vs. market averages and prepares business case for increases.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Career Stagnation Playbook: </a:t>
            </a:r>
            <a:r>
              <a:t>Fast-tracks performance appraisals, assigns mentors, and allocates training budgets.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Manager Alignment Playbook: </a:t>
            </a:r>
            <a:r>
              <a:t>Initiates skip-level check-ins and offers communication support to the team lead.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5: Security &amp; Privacy Gateways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PII Redaction Engine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Automatically strips employee names, emails, phones, and actual salaries before queries reach the LLM.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Prompt Injection Guardrail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Intercepts adversarial inputs (e.g. 'ignore instructions') and logs them in a security ledger.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Role-Based View Permissions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Enforces distinct boundaries:</a:t>
            </a:r>
            <a:br/>
            <a:r>
              <a:t>- HR Admin: Complete demographics &amp; core data.</a:t>
            </a:r>
            <a:br/>
            <a:r>
              <a:t>- Analyst: Behavioral telemetry &amp; sentiment.</a:t>
            </a:r>
            <a:br/>
            <a:r>
              <a:t>- Manager: Performance feedback &amp; check-ins.</a:t>
            </a:r>
            <a:br/>
            <a:r>
              <a:t>- Employee: Self-service timeline &amp; own metrics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Competitive Differentiator — Actionable Playbook Execution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AttriSense AI vs. Legacy Competitors (Workday, SAP SuccessFactors, and Visier)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Beyond the Risk Score: </a:t>
            </a:r>
            <a:r>
              <a:t>Legacy tools output a raw percentage (e.g. '74% risk') and stop. AttriSense goes further by analyzing the root cause and prescribing step-by-step retention guides.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Granular Explainability: </a:t>
            </a:r>
            <a:r>
              <a:t>We display the exact 15-parameter telemetry breakdowns so managers can verify *why* the employee is flagged.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Multi-Agent ADK Power: </a:t>
            </a:r>
            <a:r>
              <a:t>Uses a division of labor (Signal, Sentiment, Scoring, Playbooks) to execute reasoning plans in isolation, ensuring safety and precision.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MCP Data Connector: </a:t>
            </a:r>
            <a:r>
              <a:t>No invasive multi-month enterprise setup. Model Context Protocol enables connection to existing HR databases in days.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64592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AttriSense AI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Legacy Systems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Flight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Root Cause (Why)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 (15 parameters)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(Black Box)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Personalized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 (AI generated)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(Generic advice)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PII Redaction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Yes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 (Requires cloud)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Deploy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Days (via MCP)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Months (ERP Suite)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AttriSense AI Product Showcase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Working UI: Generalized Logins, Employee Cockpits, and Auditable Timelines</a:t>
            </a:r>
          </a:p>
        </p:txBody>
      </p:sp>
      <p:pic>
        <p:nvPicPr>
          <p:cNvPr id="3" name="Picture 2" descr="dashboard_login_page_1783595805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3832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1. Role-Generalized Portals &amp; Linked Employee Selection List</a:t>
            </a:r>
          </a:p>
        </p:txBody>
      </p:sp>
      <p:pic>
        <p:nvPicPr>
          <p:cNvPr id="5" name="Picture 4" descr="analyst_edit_modal_17835970186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3383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2. Role-Aligned Form Permissions (Analyst Modal shown)</a:t>
            </a:r>
          </a:p>
        </p:txBody>
      </p:sp>
      <p:pic>
        <p:nvPicPr>
          <p:cNvPr id="7" name="Picture 6" descr="manager_intervention_timeline_17835972737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33832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3. Employee Profile &amp; Chronological Intervention Timeline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Jury Figures, Financial ROI &amp; Future Path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AttriSense AI: Making the Case to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Industry Landscape: </a:t>
            </a:r>
            <a:r>
              <a:t>Global IT attrition averages 15% - 20%. LTTS historical attrition hovers around 13% - 18%. Healthy attrition target is 8% - 12%.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Replacing Employee Cost: </a:t>
            </a:r>
            <a:r>
              <a:t>Recruitment, onboarding, productivity loss, and knowledge transfer costs average $10,000 to $15,000 per person.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LTTS Financial ROI Impact: </a:t>
            </a:r>
            <a:r>
              <a:t>For an LTTS-sized base (~23,000 employees) at 15% attrition:
- Exits: ~3,450/year costing $34.5M to $51.75M.
- Retaining just 10% of exiting high-performers translates to annual savings of $3.45M to $5.17M.
- System run cost: under $12,000/year (300x+ ROI!).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Model Accuracy: </a:t>
            </a:r>
            <a:r>
              <a:t>Built and calibrated against research achieving up to 95% classification accuracy on attrition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🔮 Future Steps &amp; Managerial Index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Managerial Influence (16th Parameter)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We plan to feed a new signal measuring a manager's history: standard deviation of attrition rates in their team, average team mood ratings, and historical scorecards.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Automatic Coaching &amp; Training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If a manager's team shows elevated risk flags, the system proactively triggers an internal 'Leadership Development &amp; Management Coaching' program, supporting the manager with skill development rather than penalizing them.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Integrations with Corporate HRMS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Connect MCP server natively to Workday, SAP SuccessFactors, and local IT logs (Jira, Git, active hours telemetry) for fully automated, continuous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